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Fira Sans Bold" charset="1" panose="020B0803050000020004"/>
      <p:regular r:id="rId18"/>
    </p:embeddedFont>
    <p:embeddedFont>
      <p:font typeface="Fira Sans Light" charset="1" panose="020B0403050000020004"/>
      <p:regular r:id="rId19"/>
    </p:embeddedFont>
    <p:embeddedFont>
      <p:font typeface="Fira Sans" charset="1" panose="020B0503050000020004"/>
      <p:regular r:id="rId20"/>
    </p:embeddedFont>
    <p:embeddedFont>
      <p:font typeface="Fira Sans Medium" charset="1" panose="020B060305000002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5.png" Type="http://schemas.openxmlformats.org/officeDocument/2006/relationships/image"/><Relationship Id="rId6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46696" y="4881697"/>
            <a:ext cx="7321033" cy="6340049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>
                <a:alpha val="96863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185715" y="9897974"/>
            <a:ext cx="4970154" cy="4304177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99112" y="8817689"/>
            <a:ext cx="2271679" cy="1967285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757396" y="2912057"/>
            <a:ext cx="3799619" cy="3290488"/>
            <a:chOff x="0" y="0"/>
            <a:chExt cx="3619627" cy="31346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705578" y="0"/>
            <a:ext cx="12011690" cy="12011690"/>
          </a:xfrm>
          <a:custGeom>
            <a:avLst/>
            <a:gdLst/>
            <a:ahLst/>
            <a:cxnLst/>
            <a:rect r="r" b="b" t="t" l="l"/>
            <a:pathLst>
              <a:path h="12011690" w="12011690">
                <a:moveTo>
                  <a:pt x="0" y="0"/>
                </a:moveTo>
                <a:lnTo>
                  <a:pt x="12011690" y="0"/>
                </a:lnTo>
                <a:lnTo>
                  <a:pt x="12011690" y="12011690"/>
                </a:lnTo>
                <a:lnTo>
                  <a:pt x="0" y="12011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2912057"/>
            <a:ext cx="10202605" cy="5139665"/>
            <a:chOff x="0" y="0"/>
            <a:chExt cx="13603473" cy="685288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13603473" cy="487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399"/>
                </a:lnSpc>
              </a:pPr>
              <a:r>
                <a:rPr lang="en-US" sz="11999" b="true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Team</a:t>
              </a:r>
            </a:p>
            <a:p>
              <a:pPr algn="l">
                <a:lnSpc>
                  <a:spcPts val="14399"/>
                </a:lnSpc>
              </a:pPr>
              <a:r>
                <a:rPr lang="en-US" sz="11999" b="true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Tren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5196806"/>
              <a:ext cx="13603473" cy="165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Sculpting Innovation, </a:t>
              </a:r>
            </a:p>
            <a:p>
              <a:pPr algn="l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One Rep at a Time.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98701" y="0"/>
            <a:ext cx="7611546" cy="6591255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4946" t="0" r="-1494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719987"/>
            <a:ext cx="8641944" cy="3151281"/>
            <a:chOff x="0" y="0"/>
            <a:chExt cx="11522592" cy="42017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11522592" cy="3429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199"/>
                </a:lnSpc>
                <a:spcBef>
                  <a:spcPct val="0"/>
                </a:spcBef>
              </a:pPr>
              <a:r>
                <a:rPr lang="en-US" sz="8499" spc="-84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Problem Statement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654549"/>
              <a:ext cx="10322782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603668"/>
            <a:ext cx="4675303" cy="850064"/>
            <a:chOff x="0" y="0"/>
            <a:chExt cx="6233737" cy="11334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14967" cy="1133419"/>
            </a:xfrm>
            <a:custGeom>
              <a:avLst/>
              <a:gdLst/>
              <a:ahLst/>
              <a:cxnLst/>
              <a:rect r="r" b="b" t="t" l="l"/>
              <a:pathLst>
                <a:path h="1133419" w="2014967">
                  <a:moveTo>
                    <a:pt x="0" y="0"/>
                  </a:moveTo>
                  <a:lnTo>
                    <a:pt x="2014967" y="0"/>
                  </a:lnTo>
                  <a:lnTo>
                    <a:pt x="2014967" y="1133419"/>
                  </a:lnTo>
                  <a:lnTo>
                    <a:pt x="0" y="1133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888" r="0" b="-3888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736485" y="270710"/>
              <a:ext cx="4497253" cy="544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5"/>
                </a:lnSpc>
                <a:spcBef>
                  <a:spcPct val="0"/>
                </a:spcBef>
              </a:pPr>
              <a:r>
                <a:rPr lang="en-US" b="true" sz="2496">
                  <a:solidFill>
                    <a:srgbClr val="0000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Team Tren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56079" y="4918915"/>
            <a:ext cx="16257847" cy="414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6"/>
              </a:lnSpc>
            </a:pPr>
            <a:r>
              <a:rPr lang="en-US" sz="3926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Indian Railways is a major travel carrier in the country, </a:t>
            </a:r>
          </a:p>
          <a:p>
            <a:pPr algn="l">
              <a:lnSpc>
                <a:spcPts val="5496"/>
              </a:lnSpc>
            </a:pPr>
            <a:r>
              <a:rPr lang="en-US" sz="3926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crucial for the economy and nation's development. Its main </a:t>
            </a:r>
          </a:p>
          <a:p>
            <a:pPr algn="l">
              <a:lnSpc>
                <a:spcPts val="5496"/>
              </a:lnSpc>
            </a:pPr>
            <a:r>
              <a:rPr lang="en-US" sz="3926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focus is on providing </a:t>
            </a:r>
            <a:r>
              <a:rPr lang="en-US" sz="3926" b="true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comfort and convenience</a:t>
            </a:r>
            <a:r>
              <a:rPr lang="en-US" sz="3926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to travelers </a:t>
            </a:r>
          </a:p>
          <a:p>
            <a:pPr algn="l">
              <a:lnSpc>
                <a:spcPts val="5496"/>
              </a:lnSpc>
              <a:spcBef>
                <a:spcPct val="0"/>
              </a:spcBef>
            </a:pPr>
            <a:r>
              <a:rPr lang="en-US" sz="3926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for various personal and professional reasons. However, </a:t>
            </a:r>
            <a:r>
              <a:rPr lang="en-US" b="true" sz="3926">
                <a:solidFill>
                  <a:srgbClr val="904E2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Overcrowding</a:t>
            </a:r>
            <a:r>
              <a:rPr lang="en-US" sz="3926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has significantly impacted the railway's assets, causing </a:t>
            </a:r>
            <a:r>
              <a:rPr lang="en-US" b="true" sz="3926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significant damage to its resources, operations and overall condition</a:t>
            </a:r>
            <a:r>
              <a:rPr lang="en-US" sz="3926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268572" y="6577070"/>
            <a:ext cx="17019428" cy="0"/>
          </a:xfrm>
          <a:prstGeom prst="line">
            <a:avLst/>
          </a:prstGeom>
          <a:ln cap="rnd" w="19050">
            <a:solidFill>
              <a:srgbClr val="00465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3609712"/>
            <a:ext cx="4278316" cy="2571855"/>
            <a:chOff x="0" y="0"/>
            <a:chExt cx="5704421" cy="342914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5704421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A181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Lack of Accomodation Capacity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569649"/>
              <a:ext cx="5704421" cy="1859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Individuals board reserved coaches due to a </a:t>
              </a:r>
              <a:r>
                <a:rPr lang="en-US" b="true" sz="2000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lesser number of coaches</a:t>
              </a:r>
              <a:r>
                <a:rPr lang="en-US" sz="20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, hoping to find a </a:t>
              </a:r>
              <a:r>
                <a:rPr lang="en-US" b="true" sz="2000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manageable accommodation </a:t>
              </a:r>
              <a:r>
                <a:rPr lang="en-US" sz="20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to their destination.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840641" y="6995248"/>
            <a:ext cx="4937645" cy="2572078"/>
            <a:chOff x="0" y="0"/>
            <a:chExt cx="6583527" cy="342943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6583527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A181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Violence, Stampede </a:t>
              </a:r>
            </a:p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A181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&amp; Threat to Life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569946"/>
              <a:ext cx="6583527" cy="1859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Unreserved Overcrowders </a:t>
              </a:r>
              <a:r>
                <a:rPr lang="en-US" b="true" sz="2000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belittle the situation</a:t>
              </a:r>
              <a:r>
                <a:rPr lang="en-US" sz="2000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and board coaches, creating a </a:t>
              </a:r>
              <a:r>
                <a:rPr lang="en-US" b="true" sz="2000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life-threatening situation</a:t>
              </a:r>
              <a:r>
                <a:rPr lang="en-US" sz="2000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which is a threat to </a:t>
              </a:r>
              <a:r>
                <a:rPr lang="en-US" b="true" sz="2000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security</a:t>
              </a:r>
              <a:r>
                <a:rPr lang="en-US" sz="2000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of other passengers as well.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867956" y="6995248"/>
            <a:ext cx="5129134" cy="2572078"/>
            <a:chOff x="0" y="0"/>
            <a:chExt cx="6838845" cy="342943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6838845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A181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Resource</a:t>
              </a:r>
            </a:p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A181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Degradation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569946"/>
              <a:ext cx="6838845" cy="1859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Not only the Physical properties belonging to the railways gets </a:t>
              </a:r>
              <a:r>
                <a:rPr lang="en-US" b="true" sz="2000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impaired and blemish</a:t>
              </a:r>
              <a:r>
                <a:rPr lang="en-US" sz="2000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, but Overcrowding cause other elaborative </a:t>
              </a:r>
              <a:r>
                <a:rPr lang="en-US" b="true" sz="2000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budgetary misfortune</a:t>
              </a:r>
              <a:r>
                <a:rPr lang="en-US" sz="2000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as well.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01346" y="3689314"/>
            <a:ext cx="6071254" cy="2391103"/>
            <a:chOff x="0" y="0"/>
            <a:chExt cx="8095005" cy="318813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8095005" cy="1457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00A181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Lack of Monitoring Systems and Passanger Immoralities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798546"/>
              <a:ext cx="8095005" cy="1389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Due to a lack of recognition of </a:t>
              </a:r>
              <a:r>
                <a:rPr lang="en-US" b="true" sz="2000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unreserved travelers</a:t>
              </a:r>
              <a:r>
                <a:rPr lang="en-US" sz="20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, people often board trains to secure a </a:t>
              </a:r>
              <a:r>
                <a:rPr lang="en-US" b="true" sz="2000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confirmed reservation out of grace</a:t>
              </a:r>
              <a:r>
                <a:rPr lang="en-US" sz="20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.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588184" y="1316692"/>
            <a:ext cx="8408905" cy="1155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3"/>
              </a:lnSpc>
              <a:spcBef>
                <a:spcPct val="0"/>
              </a:spcBef>
            </a:pPr>
            <a:r>
              <a:rPr lang="en-US" b="true" sz="7636" spc="-76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Roots and Impacts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14173" y="6489993"/>
            <a:ext cx="380203" cy="219505"/>
            <a:chOff x="0" y="0"/>
            <a:chExt cx="3619627" cy="20897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19627" cy="2089743"/>
            </a:xfrm>
            <a:custGeom>
              <a:avLst/>
              <a:gdLst/>
              <a:ahLst/>
              <a:cxnLst/>
              <a:rect r="r" b="b" t="t" l="l"/>
              <a:pathLst>
                <a:path h="2089743" w="3619627">
                  <a:moveTo>
                    <a:pt x="3619627" y="1044871"/>
                  </a:moveTo>
                  <a:lnTo>
                    <a:pt x="2714752" y="2089743"/>
                  </a:lnTo>
                  <a:lnTo>
                    <a:pt x="904875" y="2089743"/>
                  </a:lnTo>
                  <a:lnTo>
                    <a:pt x="0" y="1044871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044871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840641" y="6467317"/>
            <a:ext cx="380203" cy="219505"/>
            <a:chOff x="0" y="0"/>
            <a:chExt cx="3619627" cy="20897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19627" cy="2089743"/>
            </a:xfrm>
            <a:custGeom>
              <a:avLst/>
              <a:gdLst/>
              <a:ahLst/>
              <a:cxnLst/>
              <a:rect r="r" b="b" t="t" l="l"/>
              <a:pathLst>
                <a:path h="2089743" w="3619627">
                  <a:moveTo>
                    <a:pt x="3619627" y="1044871"/>
                  </a:moveTo>
                  <a:lnTo>
                    <a:pt x="2714752" y="2089743"/>
                  </a:lnTo>
                  <a:lnTo>
                    <a:pt x="904875" y="2089743"/>
                  </a:lnTo>
                  <a:lnTo>
                    <a:pt x="0" y="1044871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044871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601346" y="6467317"/>
            <a:ext cx="380203" cy="219505"/>
            <a:chOff x="0" y="0"/>
            <a:chExt cx="3619627" cy="208974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19627" cy="2089743"/>
            </a:xfrm>
            <a:custGeom>
              <a:avLst/>
              <a:gdLst/>
              <a:ahLst/>
              <a:cxnLst/>
              <a:rect r="r" b="b" t="t" l="l"/>
              <a:pathLst>
                <a:path h="2089743" w="3619627">
                  <a:moveTo>
                    <a:pt x="3619627" y="1044871"/>
                  </a:moveTo>
                  <a:lnTo>
                    <a:pt x="2714752" y="2089743"/>
                  </a:lnTo>
                  <a:lnTo>
                    <a:pt x="904875" y="2089743"/>
                  </a:lnTo>
                  <a:lnTo>
                    <a:pt x="0" y="1044871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044871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867956" y="6467317"/>
            <a:ext cx="380203" cy="219505"/>
            <a:chOff x="0" y="0"/>
            <a:chExt cx="3619627" cy="208974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19627" cy="2089743"/>
            </a:xfrm>
            <a:custGeom>
              <a:avLst/>
              <a:gdLst/>
              <a:ahLst/>
              <a:cxnLst/>
              <a:rect r="r" b="b" t="t" l="l"/>
              <a:pathLst>
                <a:path h="2089743" w="3619627">
                  <a:moveTo>
                    <a:pt x="3619627" y="1044871"/>
                  </a:moveTo>
                  <a:lnTo>
                    <a:pt x="2714752" y="2089743"/>
                  </a:lnTo>
                  <a:lnTo>
                    <a:pt x="904875" y="2089743"/>
                  </a:lnTo>
                  <a:lnTo>
                    <a:pt x="0" y="1044871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044871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278652" y="1648001"/>
            <a:ext cx="1902863" cy="1647888"/>
            <a:chOff x="0" y="0"/>
            <a:chExt cx="3619627" cy="313461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-229673" y="-607913"/>
            <a:ext cx="3357340" cy="2907472"/>
            <a:chOff x="0" y="0"/>
            <a:chExt cx="3619627" cy="313461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-562210" y="-1263853"/>
            <a:ext cx="1982825" cy="1717136"/>
            <a:chOff x="0" y="0"/>
            <a:chExt cx="3619627" cy="313461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921648" y="420791"/>
            <a:ext cx="4675303" cy="850064"/>
            <a:chOff x="0" y="0"/>
            <a:chExt cx="6233737" cy="113341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14967" cy="1133419"/>
            </a:xfrm>
            <a:custGeom>
              <a:avLst/>
              <a:gdLst/>
              <a:ahLst/>
              <a:cxnLst/>
              <a:rect r="r" b="b" t="t" l="l"/>
              <a:pathLst>
                <a:path h="1133419" w="2014967">
                  <a:moveTo>
                    <a:pt x="0" y="0"/>
                  </a:moveTo>
                  <a:lnTo>
                    <a:pt x="2014967" y="0"/>
                  </a:lnTo>
                  <a:lnTo>
                    <a:pt x="2014967" y="1133419"/>
                  </a:lnTo>
                  <a:lnTo>
                    <a:pt x="0" y="1133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8888" r="0" b="-3888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1736485" y="270710"/>
              <a:ext cx="4497253" cy="544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5"/>
                </a:lnSpc>
                <a:spcBef>
                  <a:spcPct val="0"/>
                </a:spcBef>
              </a:pPr>
              <a:r>
                <a:rPr lang="en-US" b="true" sz="2496">
                  <a:solidFill>
                    <a:srgbClr val="0000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Team Tren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01178" y="1675087"/>
            <a:ext cx="14686822" cy="6380376"/>
            <a:chOff x="0" y="0"/>
            <a:chExt cx="19582430" cy="850716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773742"/>
              <a:ext cx="1958243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9582430" cy="7324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800"/>
                </a:lnSpc>
              </a:pPr>
              <a:r>
                <a:rPr lang="en-US" sz="9000">
                  <a:solidFill>
                    <a:srgbClr val="F4F4F3"/>
                  </a:solidFill>
                  <a:latin typeface="Fira Sans"/>
                  <a:ea typeface="Fira Sans"/>
                  <a:cs typeface="Fira Sans"/>
                  <a:sym typeface="Fira Sans"/>
                </a:rPr>
                <a:t>An</a:t>
              </a:r>
              <a:r>
                <a:rPr lang="en-US" sz="9000" b="true">
                  <a:solidFill>
                    <a:srgbClr val="A4E473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 Automated InfraRed Based Passenger Count Detection System </a:t>
              </a:r>
              <a:r>
                <a:rPr lang="en-US" sz="9000">
                  <a:solidFill>
                    <a:srgbClr val="F4F4F3"/>
                  </a:solidFill>
                  <a:latin typeface="Fira Sans"/>
                  <a:ea typeface="Fira Sans"/>
                  <a:cs typeface="Fira Sans"/>
                  <a:sym typeface="Fira Sans"/>
                </a:rPr>
                <a:t>inside the coach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563094" y="6708251"/>
            <a:ext cx="5655649" cy="4897819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215501" y="9157161"/>
            <a:ext cx="1897452" cy="1643202"/>
            <a:chOff x="0" y="0"/>
            <a:chExt cx="3619627" cy="31346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35095" y="447675"/>
            <a:ext cx="8408905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3"/>
              </a:lnSpc>
              <a:spcBef>
                <a:spcPct val="0"/>
              </a:spcBef>
            </a:pPr>
            <a:r>
              <a:rPr lang="en-US" b="true" sz="7636" spc="-76">
                <a:solidFill>
                  <a:srgbClr val="F4F4F3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Solution.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921648" y="603668"/>
            <a:ext cx="4675303" cy="850064"/>
            <a:chOff x="0" y="0"/>
            <a:chExt cx="6233737" cy="11334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14967" cy="1133419"/>
            </a:xfrm>
            <a:custGeom>
              <a:avLst/>
              <a:gdLst/>
              <a:ahLst/>
              <a:cxnLst/>
              <a:rect r="r" b="b" t="t" l="l"/>
              <a:pathLst>
                <a:path h="1133419" w="2014967">
                  <a:moveTo>
                    <a:pt x="0" y="0"/>
                  </a:moveTo>
                  <a:lnTo>
                    <a:pt x="2014967" y="0"/>
                  </a:lnTo>
                  <a:lnTo>
                    <a:pt x="2014967" y="1133419"/>
                  </a:lnTo>
                  <a:lnTo>
                    <a:pt x="0" y="1133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8888" r="0" b="-3888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736485" y="269261"/>
              <a:ext cx="4497253" cy="5472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5"/>
                </a:lnSpc>
                <a:spcBef>
                  <a:spcPct val="0"/>
                </a:spcBef>
              </a:pPr>
              <a:r>
                <a:rPr lang="en-US" b="true" sz="2496">
                  <a:solidFill>
                    <a:srgbClr val="F4F4F3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Team Tren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6145" y="6324383"/>
            <a:ext cx="3998082" cy="3462159"/>
            <a:chOff x="0" y="0"/>
            <a:chExt cx="4282440" cy="3708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0" t="-7739" r="0" b="-7739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1540104" y="-653754"/>
            <a:ext cx="26518477" cy="9062894"/>
            <a:chOff x="0" y="0"/>
            <a:chExt cx="15719031" cy="5372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19031" cy="5372100"/>
            </a:xfrm>
            <a:custGeom>
              <a:avLst/>
              <a:gdLst/>
              <a:ahLst/>
              <a:cxnLst/>
              <a:rect r="r" b="b" t="t" l="l"/>
              <a:pathLst>
                <a:path h="5372100" w="15719031">
                  <a:moveTo>
                    <a:pt x="14168362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14168362" y="5372100"/>
                  </a:lnTo>
                  <a:lnTo>
                    <a:pt x="15719031" y="2686050"/>
                  </a:lnTo>
                  <a:lnTo>
                    <a:pt x="14168362" y="0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2305766" y="2993463"/>
            <a:ext cx="16536642" cy="243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457"/>
              </a:lnSpc>
              <a:spcBef>
                <a:spcPct val="0"/>
              </a:spcBef>
            </a:pPr>
            <a:r>
              <a:rPr lang="en-US" b="true" sz="14967" spc="-149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संचित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05766" y="5107220"/>
            <a:ext cx="8268321" cy="122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8"/>
              </a:lnSpc>
              <a:spcBef>
                <a:spcPct val="0"/>
              </a:spcBef>
            </a:pPr>
            <a:r>
              <a:rPr lang="en-US" b="true" sz="7483" spc="-74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Sanchit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392419" y="389660"/>
            <a:ext cx="4675303" cy="850064"/>
            <a:chOff x="0" y="0"/>
            <a:chExt cx="6233737" cy="1133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4967" cy="1133419"/>
            </a:xfrm>
            <a:custGeom>
              <a:avLst/>
              <a:gdLst/>
              <a:ahLst/>
              <a:cxnLst/>
              <a:rect r="r" b="b" t="t" l="l"/>
              <a:pathLst>
                <a:path h="1133419" w="2014967">
                  <a:moveTo>
                    <a:pt x="0" y="0"/>
                  </a:moveTo>
                  <a:lnTo>
                    <a:pt x="2014967" y="0"/>
                  </a:lnTo>
                  <a:lnTo>
                    <a:pt x="2014967" y="1133419"/>
                  </a:lnTo>
                  <a:lnTo>
                    <a:pt x="0" y="1133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8888" r="0" b="-3888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736485" y="269261"/>
              <a:ext cx="4497253" cy="5472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5"/>
                </a:lnSpc>
                <a:spcBef>
                  <a:spcPct val="0"/>
                </a:spcBef>
              </a:pPr>
              <a:r>
                <a:rPr lang="en-US" b="true" sz="2496">
                  <a:solidFill>
                    <a:srgbClr val="F4F4F3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Team Tren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305766" y="6295347"/>
            <a:ext cx="11755011" cy="565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28"/>
              </a:lnSpc>
              <a:spcBef>
                <a:spcPct val="0"/>
              </a:spcBef>
            </a:pPr>
            <a:r>
              <a:rPr lang="en-US" b="true" sz="3483" spc="-34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Counted and Accumulated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9014" y="436550"/>
            <a:ext cx="6240462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  <a:spcBef>
                <a:spcPct val="0"/>
              </a:spcBef>
            </a:pPr>
            <a:r>
              <a:rPr lang="en-US" b="true" sz="7200" spc="-72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Applications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678444" y="2063409"/>
            <a:ext cx="2770768" cy="2399498"/>
            <a:chOff x="0" y="0"/>
            <a:chExt cx="3619627" cy="31346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-1306086" y="3424887"/>
            <a:ext cx="3969061" cy="3437226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678444" y="5994729"/>
            <a:ext cx="2770768" cy="2399498"/>
            <a:chOff x="0" y="0"/>
            <a:chExt cx="3619627" cy="31346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1622746" y="3766395"/>
            <a:ext cx="1431897" cy="1240030"/>
            <a:chOff x="0" y="0"/>
            <a:chExt cx="3619627" cy="31346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-10800000">
            <a:off x="-625801" y="7387979"/>
            <a:ext cx="2689629" cy="2329232"/>
            <a:chOff x="0" y="0"/>
            <a:chExt cx="3619627" cy="31346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318746" y="1731950"/>
            <a:ext cx="12393001" cy="2392820"/>
            <a:chOff x="0" y="0"/>
            <a:chExt cx="16524001" cy="319042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16524001" cy="8000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863598" indent="-431799" lvl="1">
                <a:lnSpc>
                  <a:spcPts val="4799"/>
                </a:lnSpc>
                <a:buFont typeface="Arial"/>
                <a:buChar char="•"/>
              </a:pPr>
              <a:r>
                <a:rPr lang="en-US" b="true" sz="3999">
                  <a:solidFill>
                    <a:srgbClr val="0000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Survillience on Number of Passengers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139488"/>
              <a:ext cx="16524001" cy="2050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The </a:t>
              </a:r>
              <a:r>
                <a:rPr lang="en-US" b="true" sz="2999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number of people entering the coach</a:t>
              </a:r>
              <a:r>
                <a:rPr lang="en-US" sz="29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should be equal to the </a:t>
              </a:r>
              <a:r>
                <a:rPr lang="en-US" b="true" sz="2999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number of people with permissible entry tickets</a:t>
              </a:r>
              <a:r>
                <a:rPr lang="en-US" sz="29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as per the </a:t>
              </a:r>
              <a:r>
                <a:rPr lang="en-US" b="true" sz="2999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Ticketing Database </a:t>
              </a:r>
              <a:r>
                <a:rPr lang="en-US" sz="2999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for that particular station 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318746" y="4798319"/>
            <a:ext cx="12393001" cy="2392820"/>
            <a:chOff x="0" y="0"/>
            <a:chExt cx="16524001" cy="3190427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16524001" cy="8000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863598" indent="-431799" lvl="1">
                <a:lnSpc>
                  <a:spcPts val="4799"/>
                </a:lnSpc>
                <a:buFont typeface="Arial"/>
                <a:buChar char="•"/>
              </a:pPr>
              <a:r>
                <a:rPr lang="en-US" b="true" sz="3999">
                  <a:solidFill>
                    <a:srgbClr val="0000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Real time alert of most Dire coaches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139488"/>
              <a:ext cx="16524001" cy="2050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Coaches with the worst situations</a:t>
              </a:r>
              <a:r>
                <a:rPr lang="en-US" sz="29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could be targeted by Railway Authority and Security Personnel, and appropriate action would be taken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318746" y="7848238"/>
            <a:ext cx="12393001" cy="1868973"/>
            <a:chOff x="0" y="0"/>
            <a:chExt cx="16524001" cy="2491964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0"/>
              <a:ext cx="16524001" cy="8000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863599" indent="-431800" lvl="1">
                <a:lnSpc>
                  <a:spcPts val="4799"/>
                </a:lnSpc>
                <a:buFont typeface="Arial"/>
                <a:buChar char="•"/>
              </a:pPr>
              <a:r>
                <a:rPr lang="en-US" b="true" sz="3999">
                  <a:solidFill>
                    <a:srgbClr val="0000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Passenger Management for RAC and WLs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1139488"/>
              <a:ext cx="16524001" cy="135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Helping authorities checking the reservations, they could ease up their search process of </a:t>
              </a:r>
              <a:r>
                <a:rPr lang="en-US" b="true" sz="2999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finding eligible allottable seats</a:t>
              </a:r>
              <a:r>
                <a:rPr lang="en-US" sz="29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.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5318746" y="4462907"/>
            <a:ext cx="1298497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5318746" y="7537976"/>
            <a:ext cx="1292865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3374104" y="224661"/>
            <a:ext cx="4675303" cy="850064"/>
            <a:chOff x="0" y="0"/>
            <a:chExt cx="6233737" cy="11334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14967" cy="1133419"/>
            </a:xfrm>
            <a:custGeom>
              <a:avLst/>
              <a:gdLst/>
              <a:ahLst/>
              <a:cxnLst/>
              <a:rect r="r" b="b" t="t" l="l"/>
              <a:pathLst>
                <a:path h="1133419" w="2014967">
                  <a:moveTo>
                    <a:pt x="0" y="0"/>
                  </a:moveTo>
                  <a:lnTo>
                    <a:pt x="2014967" y="0"/>
                  </a:lnTo>
                  <a:lnTo>
                    <a:pt x="2014967" y="1133419"/>
                  </a:lnTo>
                  <a:lnTo>
                    <a:pt x="0" y="1133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8888" r="0" b="-3888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1736485" y="269261"/>
              <a:ext cx="4497253" cy="5472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5"/>
                </a:lnSpc>
                <a:spcBef>
                  <a:spcPct val="0"/>
                </a:spcBef>
              </a:pPr>
              <a:r>
                <a:rPr lang="en-US" b="true" sz="2496">
                  <a:solidFill>
                    <a:srgbClr val="0000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Team Tren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75866"/>
            <a:ext cx="4893885" cy="4237884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0" t="-7739" r="0" b="-773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316764" y="7263765"/>
            <a:ext cx="7387350" cy="223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6" indent="-345438" lvl="1">
              <a:lnSpc>
                <a:spcPts val="4479"/>
              </a:lnSpc>
              <a:buAutoNum type="arabicPeriod" startAt="1"/>
            </a:pPr>
            <a:r>
              <a:rPr lang="en-US" b="true" sz="3199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InfraRed Array Sensor</a:t>
            </a:r>
          </a:p>
          <a:p>
            <a:pPr algn="l" marL="690876" indent="-345438" lvl="1">
              <a:lnSpc>
                <a:spcPts val="4479"/>
              </a:lnSpc>
              <a:buAutoNum type="arabicPeriod" startAt="1"/>
            </a:pPr>
            <a:r>
              <a:rPr lang="en-US" b="true" sz="3199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Microcontroller (RasberyPi)</a:t>
            </a:r>
          </a:p>
          <a:p>
            <a:pPr algn="l" marL="690876" indent="-345438" lvl="1">
              <a:lnSpc>
                <a:spcPts val="4479"/>
              </a:lnSpc>
              <a:buAutoNum type="arabicPeriod" startAt="1"/>
            </a:pPr>
            <a:r>
              <a:rPr lang="en-US" b="true" sz="3199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Database Servers</a:t>
            </a:r>
          </a:p>
          <a:p>
            <a:pPr algn="l" marL="690876" indent="-345438" lvl="1">
              <a:lnSpc>
                <a:spcPts val="4479"/>
              </a:lnSpc>
              <a:buAutoNum type="arabicPeriod" startAt="1"/>
            </a:pPr>
            <a:r>
              <a:rPr lang="en-US" b="true" sz="3199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Controlling and managing Interface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26278" y="98965"/>
            <a:ext cx="6235444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99"/>
              </a:lnSpc>
              <a:spcBef>
                <a:spcPct val="0"/>
              </a:spcBef>
            </a:pPr>
            <a:r>
              <a:rPr lang="en-US" b="true" sz="8499" spc="-8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Components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126992" y="5002008"/>
            <a:ext cx="4624069" cy="4004235"/>
            <a:chOff x="0" y="0"/>
            <a:chExt cx="4282440" cy="370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45369" t="0" r="-47885" b="-1677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42434" y="316870"/>
            <a:ext cx="4675303" cy="850064"/>
            <a:chOff x="0" y="0"/>
            <a:chExt cx="6233737" cy="11334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4967" cy="1133419"/>
            </a:xfrm>
            <a:custGeom>
              <a:avLst/>
              <a:gdLst/>
              <a:ahLst/>
              <a:cxnLst/>
              <a:rect r="r" b="b" t="t" l="l"/>
              <a:pathLst>
                <a:path h="1133419" w="2014967">
                  <a:moveTo>
                    <a:pt x="0" y="0"/>
                  </a:moveTo>
                  <a:lnTo>
                    <a:pt x="2014967" y="0"/>
                  </a:lnTo>
                  <a:lnTo>
                    <a:pt x="2014967" y="1133419"/>
                  </a:lnTo>
                  <a:lnTo>
                    <a:pt x="0" y="1133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8888" r="0" b="-3888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736485" y="269261"/>
              <a:ext cx="4497253" cy="5472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5"/>
                </a:lnSpc>
                <a:spcBef>
                  <a:spcPct val="0"/>
                </a:spcBef>
              </a:pPr>
              <a:r>
                <a:rPr lang="en-US" b="true" sz="2496">
                  <a:solidFill>
                    <a:srgbClr val="0000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Team Tren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1555984"/>
            <a:ext cx="4893885" cy="4237884"/>
            <a:chOff x="0" y="0"/>
            <a:chExt cx="4282440" cy="3708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5"/>
              <a:stretch>
                <a:fillRect l="-14510" t="0" r="-11927" b="-804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844552" y="1555984"/>
            <a:ext cx="4893885" cy="4237884"/>
            <a:chOff x="0" y="0"/>
            <a:chExt cx="4282440" cy="3708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6"/>
              <a:stretch>
                <a:fillRect l="0" t="-7739" r="0" b="-7739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265232" y="3051990"/>
            <a:ext cx="5705011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b="true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1.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91495" y="5889118"/>
            <a:ext cx="5705011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b="true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2.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90943" y="5945240"/>
            <a:ext cx="5705011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b="true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3.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200607" y="3826298"/>
            <a:ext cx="5705011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b="true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4.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0542559" y="-4978362"/>
            <a:ext cx="9822161" cy="6226137"/>
            <a:chOff x="0" y="0"/>
            <a:chExt cx="8474859" cy="5372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74859" cy="5372100"/>
            </a:xfrm>
            <a:custGeom>
              <a:avLst/>
              <a:gdLst/>
              <a:ahLst/>
              <a:cxnLst/>
              <a:rect r="r" b="b" t="t" l="l"/>
              <a:pathLst>
                <a:path h="5372100" w="8474859">
                  <a:moveTo>
                    <a:pt x="6924189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6924189" y="5372100"/>
                  </a:lnTo>
                  <a:lnTo>
                    <a:pt x="8474859" y="2686050"/>
                  </a:lnTo>
                  <a:lnTo>
                    <a:pt x="6924189" y="0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959443" y="-1338466"/>
            <a:ext cx="2695438" cy="2334501"/>
            <a:chOff x="0" y="0"/>
            <a:chExt cx="6202680" cy="5372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02680" cy="5372100"/>
            </a:xfrm>
            <a:custGeom>
              <a:avLst/>
              <a:gdLst/>
              <a:ahLst/>
              <a:cxnLst/>
              <a:rect r="r" b="b" t="t" l="l"/>
              <a:pathLst>
                <a:path h="5372100" w="620268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66675" y="45286"/>
            <a:ext cx="4675303" cy="850064"/>
            <a:chOff x="0" y="0"/>
            <a:chExt cx="6233737" cy="1133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4967" cy="1133419"/>
            </a:xfrm>
            <a:custGeom>
              <a:avLst/>
              <a:gdLst/>
              <a:ahLst/>
              <a:cxnLst/>
              <a:rect r="r" b="b" t="t" l="l"/>
              <a:pathLst>
                <a:path h="1133419" w="2014967">
                  <a:moveTo>
                    <a:pt x="0" y="0"/>
                  </a:moveTo>
                  <a:lnTo>
                    <a:pt x="2014967" y="0"/>
                  </a:lnTo>
                  <a:lnTo>
                    <a:pt x="2014967" y="1133419"/>
                  </a:lnTo>
                  <a:lnTo>
                    <a:pt x="0" y="1133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8888" r="0" b="-3888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736485" y="269261"/>
              <a:ext cx="4497253" cy="5472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5"/>
                </a:lnSpc>
                <a:spcBef>
                  <a:spcPct val="0"/>
                </a:spcBef>
              </a:pPr>
              <a:r>
                <a:rPr lang="en-US" b="true" sz="2496">
                  <a:solidFill>
                    <a:srgbClr val="0000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Team Tren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74025" y="1247775"/>
            <a:ext cx="16069733" cy="9039225"/>
          </a:xfrm>
          <a:custGeom>
            <a:avLst/>
            <a:gdLst/>
            <a:ahLst/>
            <a:cxnLst/>
            <a:rect r="r" b="b" t="t" l="l"/>
            <a:pathLst>
              <a:path h="9039225" w="16069733">
                <a:moveTo>
                  <a:pt x="0" y="0"/>
                </a:moveTo>
                <a:lnTo>
                  <a:pt x="16069733" y="0"/>
                </a:lnTo>
                <a:lnTo>
                  <a:pt x="16069733" y="9039225"/>
                </a:lnTo>
                <a:lnTo>
                  <a:pt x="0" y="90392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23347" y="-21389"/>
            <a:ext cx="7241307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000" spc="-60" b="true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Work Flow</a:t>
            </a:r>
          </a:p>
          <a:p>
            <a:pPr algn="l">
              <a:lnSpc>
                <a:spcPts val="7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4866555" y="8181569"/>
            <a:ext cx="9822161" cy="6226137"/>
            <a:chOff x="0" y="0"/>
            <a:chExt cx="8474859" cy="5372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74859" cy="5372100"/>
            </a:xfrm>
            <a:custGeom>
              <a:avLst/>
              <a:gdLst/>
              <a:ahLst/>
              <a:cxnLst/>
              <a:rect r="r" b="b" t="t" l="l"/>
              <a:pathLst>
                <a:path h="5372100" w="8474859">
                  <a:moveTo>
                    <a:pt x="6924189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6924189" y="5372100"/>
                  </a:lnTo>
                  <a:lnTo>
                    <a:pt x="8474859" y="2686050"/>
                  </a:lnTo>
                  <a:lnTo>
                    <a:pt x="6924189" y="0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518836" y="8971305"/>
            <a:ext cx="2695438" cy="2334501"/>
            <a:chOff x="0" y="0"/>
            <a:chExt cx="6202680" cy="5372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02680" cy="5372100"/>
            </a:xfrm>
            <a:custGeom>
              <a:avLst/>
              <a:gdLst/>
              <a:ahLst/>
              <a:cxnLst/>
              <a:rect r="r" b="b" t="t" l="l"/>
              <a:pathLst>
                <a:path h="5372100" w="620268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866555" y="603668"/>
            <a:ext cx="4675303" cy="850064"/>
            <a:chOff x="0" y="0"/>
            <a:chExt cx="6233737" cy="1133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4967" cy="1133419"/>
            </a:xfrm>
            <a:custGeom>
              <a:avLst/>
              <a:gdLst/>
              <a:ahLst/>
              <a:cxnLst/>
              <a:rect r="r" b="b" t="t" l="l"/>
              <a:pathLst>
                <a:path h="1133419" w="2014967">
                  <a:moveTo>
                    <a:pt x="0" y="0"/>
                  </a:moveTo>
                  <a:lnTo>
                    <a:pt x="2014967" y="0"/>
                  </a:lnTo>
                  <a:lnTo>
                    <a:pt x="2014967" y="1133419"/>
                  </a:lnTo>
                  <a:lnTo>
                    <a:pt x="0" y="1133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8888" r="0" b="-3888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736485" y="269261"/>
              <a:ext cx="4497253" cy="5472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5"/>
                </a:lnSpc>
                <a:spcBef>
                  <a:spcPct val="0"/>
                </a:spcBef>
              </a:pPr>
              <a:r>
                <a:rPr lang="en-US" b="true" sz="2496">
                  <a:solidFill>
                    <a:srgbClr val="0000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Team Tren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30285" y="2133549"/>
            <a:ext cx="6704193" cy="8005007"/>
          </a:xfrm>
          <a:custGeom>
            <a:avLst/>
            <a:gdLst/>
            <a:ahLst/>
            <a:cxnLst/>
            <a:rect r="r" b="b" t="t" l="l"/>
            <a:pathLst>
              <a:path h="8005007" w="6704193">
                <a:moveTo>
                  <a:pt x="0" y="0"/>
                </a:moveTo>
                <a:lnTo>
                  <a:pt x="6704193" y="0"/>
                </a:lnTo>
                <a:lnTo>
                  <a:pt x="6704193" y="8005007"/>
                </a:lnTo>
                <a:lnTo>
                  <a:pt x="0" y="8005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24433" y="581050"/>
            <a:ext cx="11714193" cy="98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  <a:spcBef>
                <a:spcPct val="0"/>
              </a:spcBef>
            </a:pPr>
            <a:r>
              <a:rPr lang="en-US" sz="6000" spc="-6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Railway Officials User Interface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09618" y="4749603"/>
            <a:ext cx="8816004" cy="221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  <a:spcBef>
                <a:spcPct val="0"/>
              </a:spcBef>
            </a:pPr>
            <a:r>
              <a:rPr lang="en-US" sz="4500" spc="-45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Live </a:t>
            </a:r>
            <a:r>
              <a:rPr lang="en-US" sz="4500" spc="-45">
                <a:solidFill>
                  <a:srgbClr val="9F761C"/>
                </a:solidFill>
                <a:latin typeface="Fira Sans"/>
                <a:ea typeface="Fira Sans"/>
                <a:cs typeface="Fira Sans"/>
                <a:sym typeface="Fira Sans"/>
              </a:rPr>
              <a:t>Monitoring</a:t>
            </a:r>
            <a:r>
              <a:rPr lang="en-US" sz="4500" spc="-45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, </a:t>
            </a:r>
            <a:r>
              <a:rPr lang="en-US" sz="4500" spc="-45">
                <a:solidFill>
                  <a:srgbClr val="B9CA42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r>
              <a:rPr lang="en-US" sz="4500" spc="-45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, and </a:t>
            </a:r>
            <a:r>
              <a:rPr lang="en-US" sz="4500" spc="-45">
                <a:solidFill>
                  <a:srgbClr val="FA0C07"/>
                </a:solidFill>
                <a:latin typeface="Fira Sans"/>
                <a:ea typeface="Fira Sans"/>
                <a:cs typeface="Fira Sans"/>
                <a:sym typeface="Fira Sans"/>
              </a:rPr>
              <a:t>Assignment of Railway Personnel</a:t>
            </a:r>
            <a:r>
              <a:rPr lang="en-US" sz="4500" spc="-45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on Hand-Held Terminal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5153522" y="-783398"/>
            <a:ext cx="13031070" cy="11284968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4463244" y="-295644"/>
            <a:ext cx="5438565" cy="4709823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930661" y="806292"/>
            <a:ext cx="2695869" cy="2334501"/>
            <a:chOff x="0" y="0"/>
            <a:chExt cx="4282440" cy="370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0" t="-7739" r="0" b="-773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4302" y="4067600"/>
            <a:ext cx="2695869" cy="2334501"/>
            <a:chOff x="0" y="0"/>
            <a:chExt cx="4282440" cy="370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6649" t="0" r="-6649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515232" y="7043640"/>
            <a:ext cx="2695869" cy="2334501"/>
            <a:chOff x="0" y="0"/>
            <a:chExt cx="4282440" cy="3708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4"/>
              <a:stretch>
                <a:fillRect l="0" t="-8374" r="0" b="-837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874180" y="436121"/>
            <a:ext cx="6006598" cy="2872073"/>
            <a:chOff x="0" y="0"/>
            <a:chExt cx="8008797" cy="382943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57150"/>
              <a:ext cx="8008797" cy="6540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</a:pPr>
              <a:r>
                <a:rPr lang="en-US" b="true" sz="2999" u="sng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Feasibility and Privacy Friendly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694012"/>
              <a:ext cx="8008797" cy="2496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2928" indent="-291464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Easy and Low Cost Installation as low as Rs. 2500 per setup.</a:t>
              </a:r>
            </a:p>
            <a:p>
              <a:pPr algn="l" marL="582928" indent="-291464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Minute Resource consumption.</a:t>
              </a:r>
            </a:p>
            <a:p>
              <a:pPr algn="l" marL="582928" indent="-291464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Minute Setup spot.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3282272"/>
              <a:ext cx="8008797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</a:pPr>
              <a:r>
                <a:rPr lang="en-US" b="true" sz="2499">
                  <a:solidFill>
                    <a:srgbClr val="904E2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“Budget Friendly”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37120" y="3860351"/>
            <a:ext cx="6435107" cy="2370453"/>
            <a:chOff x="0" y="0"/>
            <a:chExt cx="8580143" cy="3160604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660186"/>
              <a:ext cx="8580143" cy="186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2928" indent="-291464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Consumes less Power and could work with minimalistic supply.</a:t>
              </a:r>
            </a:p>
            <a:p>
              <a:pPr algn="l" marL="582928" indent="-291464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Could work on Backup power as well.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2613446"/>
              <a:ext cx="8580143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</a:pPr>
              <a:r>
                <a:rPr lang="en-US" b="true" sz="2499">
                  <a:solidFill>
                    <a:srgbClr val="91604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“Eco-Friendly and Sustainable”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57150"/>
              <a:ext cx="8580143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b="true" sz="2799" u="sng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Energy Efficient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858499" y="6821201"/>
            <a:ext cx="6940932" cy="3320674"/>
            <a:chOff x="0" y="0"/>
            <a:chExt cx="9254576" cy="4427565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657615"/>
              <a:ext cx="9254576" cy="3130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2928" indent="-291464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Could be integrated along with current data setup and infrastructure resources.</a:t>
              </a:r>
            </a:p>
            <a:p>
              <a:pPr algn="l" marL="582928" indent="-291464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Standardized along with technology accessible to Operational Staff and Security Personnels.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3880407"/>
              <a:ext cx="9254576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</a:pPr>
              <a:r>
                <a:rPr lang="en-US" b="true" sz="2499">
                  <a:solidFill>
                    <a:srgbClr val="91604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“Easy Integration”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-57150"/>
              <a:ext cx="9254576" cy="622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b="true" sz="2799" u="sng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In Conjunction with current Infrastructure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01630" y="1079386"/>
            <a:ext cx="6113968" cy="1731164"/>
            <a:chOff x="0" y="0"/>
            <a:chExt cx="8151957" cy="2308218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1685495"/>
              <a:ext cx="8151957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-66675"/>
              <a:ext cx="8151957" cy="1285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00"/>
                </a:lnSpc>
                <a:spcBef>
                  <a:spcPct val="0"/>
                </a:spcBef>
              </a:pPr>
              <a:r>
                <a:rPr lang="en-US" sz="6000" spc="-60">
                  <a:solidFill>
                    <a:srgbClr val="F4F4F4"/>
                  </a:solidFill>
                  <a:latin typeface="Fira Sans"/>
                  <a:ea typeface="Fira Sans"/>
                  <a:cs typeface="Fira Sans"/>
                  <a:sym typeface="Fira Sans"/>
                </a:rPr>
                <a:t>Advantages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85950" y="-517425"/>
            <a:ext cx="6210236" cy="5378093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09993" y="306851"/>
            <a:ext cx="3151914" cy="2729572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2016848" y="4264457"/>
          <a:ext cx="13549133" cy="4993843"/>
        </p:xfrm>
        <a:graphic>
          <a:graphicData uri="http://schemas.openxmlformats.org/drawingml/2006/table">
            <a:tbl>
              <a:tblPr/>
              <a:tblGrid>
                <a:gridCol w="6774567"/>
                <a:gridCol w="6774567"/>
              </a:tblGrid>
              <a:tr h="24969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4F4F4"/>
                          </a:solidFill>
                          <a:latin typeface="Fira Sans Medium"/>
                          <a:ea typeface="Fira Sans Medium"/>
                          <a:cs typeface="Fira Sans Medium"/>
                          <a:sym typeface="Fira Sans Medium"/>
                        </a:rPr>
                        <a:t>Dwell Time and Traffic Patterns by Data Accumulation and Analyzing 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4F4F4"/>
                          </a:solidFill>
                          <a:latin typeface="Fira Sans Medium"/>
                          <a:ea typeface="Fira Sans Medium"/>
                          <a:cs typeface="Fira Sans Medium"/>
                          <a:sym typeface="Fira Sans Medium"/>
                        </a:rPr>
                        <a:t>Development to an Object Classification System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51"/>
                    </a:solidFill>
                  </a:tcPr>
                </a:tc>
              </a:tr>
              <a:tr h="24969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4F4F4"/>
                          </a:solidFill>
                          <a:latin typeface="Fira Sans Medium"/>
                          <a:ea typeface="Fira Sans Medium"/>
                          <a:cs typeface="Fira Sans Medium"/>
                          <a:sym typeface="Fira Sans Medium"/>
                        </a:rPr>
                        <a:t>Automation of seat Reservation for RAC and WL ticket holders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4F4F4"/>
                          </a:solidFill>
                          <a:latin typeface="Fira Sans Medium"/>
                          <a:ea typeface="Fira Sans Medium"/>
                          <a:cs typeface="Fira Sans Medium"/>
                          <a:sym typeface="Fira Sans Medium"/>
                        </a:rPr>
                        <a:t>Produce Advanced real-time Data Visuaization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51"/>
                    </a:solidFill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9645522" y="2844299"/>
            <a:ext cx="6910589" cy="1641595"/>
            <a:chOff x="0" y="0"/>
            <a:chExt cx="5213448" cy="12384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13448" cy="1238443"/>
            </a:xfrm>
            <a:custGeom>
              <a:avLst/>
              <a:gdLst/>
              <a:ahLst/>
              <a:cxnLst/>
              <a:rect r="r" b="b" t="t" l="l"/>
              <a:pathLst>
                <a:path h="1238443" w="5213448">
                  <a:moveTo>
                    <a:pt x="33609" y="0"/>
                  </a:moveTo>
                  <a:lnTo>
                    <a:pt x="5179839" y="0"/>
                  </a:lnTo>
                  <a:cubicBezTo>
                    <a:pt x="5198401" y="0"/>
                    <a:pt x="5213448" y="15047"/>
                    <a:pt x="5213448" y="33609"/>
                  </a:cubicBezTo>
                  <a:lnTo>
                    <a:pt x="5213448" y="1204834"/>
                  </a:lnTo>
                  <a:cubicBezTo>
                    <a:pt x="5213448" y="1223395"/>
                    <a:pt x="5198401" y="1238443"/>
                    <a:pt x="5179839" y="1238443"/>
                  </a:cubicBezTo>
                  <a:lnTo>
                    <a:pt x="33609" y="1238443"/>
                  </a:lnTo>
                  <a:cubicBezTo>
                    <a:pt x="15047" y="1238443"/>
                    <a:pt x="0" y="1223395"/>
                    <a:pt x="0" y="1204834"/>
                  </a:cubicBezTo>
                  <a:lnTo>
                    <a:pt x="0" y="33609"/>
                  </a:lnTo>
                  <a:cubicBezTo>
                    <a:pt x="0" y="15047"/>
                    <a:pt x="15047" y="0"/>
                    <a:pt x="33609" y="0"/>
                  </a:cubicBezTo>
                  <a:close/>
                </a:path>
              </a:pathLst>
            </a:custGeom>
            <a:solidFill>
              <a:srgbClr val="F4F4F4"/>
            </a:solidFill>
            <a:ln cap="rnd">
              <a:noFill/>
              <a:prstDash val="sysDot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213448" cy="127654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2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945423" y="3022159"/>
            <a:ext cx="6910589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  <a:spcBef>
                <a:spcPct val="0"/>
              </a:spcBef>
            </a:pPr>
            <a:r>
              <a:rPr lang="en-US" b="true" sz="8499" spc="-84">
                <a:solidFill>
                  <a:srgbClr val="171315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Future Scope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0028" y="1363883"/>
            <a:ext cx="6910589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  <a:spcBef>
                <a:spcPct val="0"/>
              </a:spcBef>
            </a:pPr>
            <a:r>
              <a:rPr lang="en-US" b="true" sz="8499" spc="-84">
                <a:solidFill>
                  <a:srgbClr val="F4F4F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Analysis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85950" y="-517425"/>
            <a:ext cx="6210236" cy="5378093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09993" y="306851"/>
            <a:ext cx="3151914" cy="2729572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2016848" y="4264457"/>
          <a:ext cx="13549133" cy="4993843"/>
        </p:xfrm>
        <a:graphic>
          <a:graphicData uri="http://schemas.openxmlformats.org/drawingml/2006/table">
            <a:tbl>
              <a:tblPr/>
              <a:tblGrid>
                <a:gridCol w="6774567"/>
                <a:gridCol w="6774567"/>
              </a:tblGrid>
              <a:tr h="24969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4F4F4"/>
                          </a:solidFill>
                          <a:latin typeface="Fira Sans Medium"/>
                          <a:ea typeface="Fira Sans Medium"/>
                          <a:cs typeface="Fira Sans Medium"/>
                          <a:sym typeface="Fira Sans Medium"/>
                        </a:rPr>
                        <a:t>Missing Human Resource to imply the removal of Unreserved Passengers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4F4F4"/>
                          </a:solidFill>
                          <a:latin typeface="Fira Sans Medium"/>
                          <a:ea typeface="Fira Sans Medium"/>
                          <a:cs typeface="Fira Sans Medium"/>
                          <a:sym typeface="Fira Sans Medium"/>
                        </a:rPr>
                        <a:t>Accuracy Challenges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51"/>
                    </a:solidFill>
                  </a:tcPr>
                </a:tc>
              </a:tr>
              <a:tr h="24969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4F4F4"/>
                          </a:solidFill>
                          <a:latin typeface="Fira Sans Medium"/>
                          <a:ea typeface="Fira Sans Medium"/>
                          <a:cs typeface="Fira Sans Medium"/>
                          <a:sym typeface="Fira Sans Medium"/>
                        </a:rPr>
                        <a:t>Automation of seat Reservation for RAC and WL ticket holders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4F4F4"/>
                          </a:solidFill>
                          <a:latin typeface="Fira Sans Medium"/>
                          <a:ea typeface="Fira Sans Medium"/>
                          <a:cs typeface="Fira Sans Medium"/>
                          <a:sym typeface="Fira Sans Medium"/>
                        </a:rPr>
                        <a:t>Produce Advanced real-time Data Visuaization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A4E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51"/>
                    </a:solidFill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9645522" y="2844299"/>
            <a:ext cx="6910589" cy="1641595"/>
            <a:chOff x="0" y="0"/>
            <a:chExt cx="5213448" cy="12384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13448" cy="1238443"/>
            </a:xfrm>
            <a:custGeom>
              <a:avLst/>
              <a:gdLst/>
              <a:ahLst/>
              <a:cxnLst/>
              <a:rect r="r" b="b" t="t" l="l"/>
              <a:pathLst>
                <a:path h="1238443" w="5213448">
                  <a:moveTo>
                    <a:pt x="33609" y="0"/>
                  </a:moveTo>
                  <a:lnTo>
                    <a:pt x="5179839" y="0"/>
                  </a:lnTo>
                  <a:cubicBezTo>
                    <a:pt x="5198401" y="0"/>
                    <a:pt x="5213448" y="15047"/>
                    <a:pt x="5213448" y="33609"/>
                  </a:cubicBezTo>
                  <a:lnTo>
                    <a:pt x="5213448" y="1204834"/>
                  </a:lnTo>
                  <a:cubicBezTo>
                    <a:pt x="5213448" y="1223395"/>
                    <a:pt x="5198401" y="1238443"/>
                    <a:pt x="5179839" y="1238443"/>
                  </a:cubicBezTo>
                  <a:lnTo>
                    <a:pt x="33609" y="1238443"/>
                  </a:lnTo>
                  <a:cubicBezTo>
                    <a:pt x="15047" y="1238443"/>
                    <a:pt x="0" y="1223395"/>
                    <a:pt x="0" y="1204834"/>
                  </a:cubicBezTo>
                  <a:lnTo>
                    <a:pt x="0" y="33609"/>
                  </a:lnTo>
                  <a:cubicBezTo>
                    <a:pt x="0" y="15047"/>
                    <a:pt x="15047" y="0"/>
                    <a:pt x="33609" y="0"/>
                  </a:cubicBezTo>
                  <a:close/>
                </a:path>
              </a:pathLst>
            </a:custGeom>
            <a:solidFill>
              <a:srgbClr val="F4F4F4"/>
            </a:solidFill>
            <a:ln cap="rnd">
              <a:noFill/>
              <a:prstDash val="sysDot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213448" cy="127654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2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945423" y="3022159"/>
            <a:ext cx="6910589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  <a:spcBef>
                <a:spcPct val="0"/>
              </a:spcBef>
            </a:pPr>
            <a:r>
              <a:rPr lang="en-US" b="true" sz="8499" spc="-84">
                <a:solidFill>
                  <a:srgbClr val="171315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Constraints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0028" y="1363883"/>
            <a:ext cx="6910589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  <a:spcBef>
                <a:spcPct val="0"/>
              </a:spcBef>
            </a:pPr>
            <a:r>
              <a:rPr lang="en-US" b="true" sz="8499" spc="-84">
                <a:solidFill>
                  <a:srgbClr val="F4F4F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DAGDcOLsHEQ</dc:identifier>
  <dcterms:modified xsi:type="dcterms:W3CDTF">2011-08-01T06:04:30Z</dcterms:modified>
  <cp:revision>1</cp:revision>
  <dc:title>Team Tren</dc:title>
</cp:coreProperties>
</file>